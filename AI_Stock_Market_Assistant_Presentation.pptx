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F0C1DF-AB8B-E6D6-67EF-23B843D4B355}">
          <p14:sldIdLst>
            <p14:sldId id="256"/>
            <p14:sldId id="257"/>
            <p14:sldId id="258"/>
          </p14:sldIdLst>
        </p14:section>
        <p14:section name="Architecture" id="{B40BF706-9E7D-C67C-9C5F-9CCB8454BFE6}">
          <p14:sldIdLst>
            <p14:sldId id="259"/>
            <p14:sldId id="260"/>
            <p14:sldId id="261"/>
          </p14:sldIdLst>
        </p14:section>
        <p14:section name="Implementation" id="{C8AFF159-F934-CD1E-0524-BF831178C8B2}">
          <p14:sldIdLst>
            <p14:sldId id="262"/>
            <p14:sldId id="263"/>
            <p14:sldId id="264"/>
            <p14:sldId id="265"/>
          </p14:sldIdLst>
        </p14:section>
        <p14:section name="Application" id="{021ECECA-178D-5471-CCAE-0093247FB13B}">
          <p14:sldIdLst>
            <p14:sldId id="266"/>
            <p14:sldId id="267"/>
            <p14:sldId id="268"/>
          </p14:sldIdLst>
        </p14:section>
        <p14:section name="Conclusion" id="{83FF321F-CE9A-B4B6-7272-C1FD737B84B9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ln w="50800" cap="flat">
              <a:solidFill>
                <a:srgbClr val="16A34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100</c:v>
                </c:pt>
                <c:pt idx="1">
                  <c:v>104</c:v>
                </c:pt>
                <c:pt idx="2">
                  <c:v>102</c:v>
                </c:pt>
                <c:pt idx="3">
                  <c:v>108</c:v>
                </c:pt>
                <c:pt idx="4">
                  <c:v>106</c:v>
                </c:pt>
                <c:pt idx="5">
                  <c:v>113</c:v>
                </c:pt>
                <c:pt idx="6">
                  <c:v>111</c:v>
                </c:pt>
                <c:pt idx="7">
                  <c:v>118</c:v>
                </c:pt>
                <c:pt idx="8">
                  <c:v>115</c:v>
                </c:pt>
                <c:pt idx="9">
                  <c:v>123</c:v>
                </c:pt>
                <c:pt idx="10">
                  <c:v>121</c:v>
                </c:pt>
                <c:pt idx="11">
                  <c:v>128</c:v>
                </c:pt>
                <c:pt idx="12">
                  <c:v>126</c:v>
                </c:pt>
                <c:pt idx="13">
                  <c:v>134</c:v>
                </c:pt>
                <c:pt idx="14">
                  <c:v>131</c:v>
                </c:pt>
                <c:pt idx="15">
                  <c:v>139</c:v>
                </c:pt>
                <c:pt idx="16">
                  <c:v>137</c:v>
                </c:pt>
                <c:pt idx="17">
                  <c:v>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C8-4104-9DDB-0EF9B6757C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569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AI assistant that analyses stocks, reads financial news using RAG and gives a simulated Buy/Sell/Hold recommendation. It is built as a multi-agent system with LangChain and LangGraph and deployed as a Streamlit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objectives from the assignment brief. The key design decision is to split the work across specialised agents instead of one big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 provides the building blocks, LangGraph orchestrates the agents. Groq serves the open-weights gpt-oss-20b model. Embeddings run locally, so the only required API key is Groq.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question enters at the Query Router. Three routing functions decide the path: after the router (full / news only / invalid), after market data (price check skips news, bad ticker goes to invalid), and after the analyst (only full analysis goes to the recommendation agent).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is a LangGraph node: a Python function that reads StockState and returns only the fields it updates. 'Writes' shows which state field each agent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StockState is a TypedDict. Only 'messages' uses a reducer (add_messages), so chat history accumulates; all other fields are overwritten. The checkpointer gives short-term memory per thread_id.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LLM calls use LCEL chains with the pipe operator. Pydantic output parsers make the router, news sentiment and recommendation outputs structured and reliable. The four tools are LangChain @tool functions invoked by the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pattern as our QA chatbot: load documents, split, embed, store in FAISS, retrieve and generate. Here the documents are fresh news articles, so a new index is built for each stock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assignment needs at least one conditional edge; this graph has three. Only the agents that the question needs are executed, which saves LLM calls and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Indicators are calculated in Python, not by the LLM, so the numbers are exact. The recommendation agent then applies these guidelines and returns a structured Recommendation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app here. Steps 1 to 10 of the Python file are the same code as the notebook; Step 11 adds the Streamlit interface. Graph streaming shows each agent finishing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direct mapping from each constraint in the assignment brief to where it is implemented in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 Groq API key is required. Embeddings run locally and Yahoo Finance needs no key. The first run downloads the small embedding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limitations; the future scope items show how the same graph could be extended with more agents or a persistent checkpointer.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takeaways, then switch to the live Streamlit demo and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55448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42900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94A3B8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AI Stock Market Assistant  ·  LangChain + LangGraph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55448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AI Stock Market Assistant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429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4A3B8"/>
                </a:solidFill>
              </a:rPr>
              <a:t>A multi-agent system built with LangChain + LangGraph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ASSIGNMENT 1.1</a:t>
            </a:r>
            <a:endParaRPr lang="en-US" sz="1400" dirty="0"/>
          </a:p>
        </p:txBody>
      </p:sp>
      <p:sp>
        <p:nvSpPr>
          <p:cNvPr id="5" name="LangChain chip"/>
          <p:cNvSpPr/>
          <p:nvPr/>
        </p:nvSpPr>
        <p:spPr>
          <a:xfrm>
            <a:off x="640080" y="4526280"/>
            <a:ext cx="112014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526280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LangChain</a:t>
            </a:r>
            <a:endParaRPr lang="en-US" sz="1300" dirty="0"/>
          </a:p>
        </p:txBody>
      </p:sp>
      <p:sp>
        <p:nvSpPr>
          <p:cNvPr id="7" name="LangGraph chip"/>
          <p:cNvSpPr/>
          <p:nvPr/>
        </p:nvSpPr>
        <p:spPr>
          <a:xfrm>
            <a:off x="1897380" y="4526280"/>
            <a:ext cx="112014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97380" y="4526280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LangGraph</a:t>
            </a:r>
            <a:endParaRPr lang="en-US" sz="1300" dirty="0"/>
          </a:p>
        </p:txBody>
      </p:sp>
      <p:sp>
        <p:nvSpPr>
          <p:cNvPr id="9" name="RAG chip"/>
          <p:cNvSpPr/>
          <p:nvPr/>
        </p:nvSpPr>
        <p:spPr>
          <a:xfrm>
            <a:off x="3154680" y="4526280"/>
            <a:ext cx="544068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4526280"/>
            <a:ext cx="544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RAG</a:t>
            </a:r>
            <a:endParaRPr lang="en-US" sz="1300" dirty="0"/>
          </a:p>
        </p:txBody>
      </p:sp>
      <p:sp>
        <p:nvSpPr>
          <p:cNvPr id="11" name="Multi-Agent chip"/>
          <p:cNvSpPr/>
          <p:nvPr/>
        </p:nvSpPr>
        <p:spPr>
          <a:xfrm>
            <a:off x="3835908" y="4526280"/>
            <a:ext cx="1312164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5908" y="4526280"/>
            <a:ext cx="131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Multi-Agent</a:t>
            </a:r>
            <a:endParaRPr lang="en-US" sz="1300" dirty="0"/>
          </a:p>
        </p:txBody>
      </p:sp>
      <p:sp>
        <p:nvSpPr>
          <p:cNvPr id="13" name="Streamlit chip"/>
          <p:cNvSpPr/>
          <p:nvPr/>
        </p:nvSpPr>
        <p:spPr>
          <a:xfrm>
            <a:off x="5285232" y="4526280"/>
            <a:ext cx="112014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85232" y="4526280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Streamlit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Presented by: Akshay</a:t>
            </a:r>
            <a:endParaRPr lang="en-US" sz="1400" dirty="0"/>
          </a:p>
        </p:txBody>
      </p:sp>
      <p:graphicFrame>
        <p:nvGraphicFramePr>
          <p:cNvPr id="16" name="Chart 0" descr="Decorative upward stock price line"/>
          <p:cNvGraphicFramePr/>
          <p:nvPr/>
        </p:nvGraphicFramePr>
        <p:xfrm>
          <a:off x="7498080" y="1280160"/>
          <a:ext cx="4206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assistant does</a:t>
            </a:r>
            <a:endParaRPr lang="en-US" sz="3200" dirty="0"/>
          </a:p>
        </p:txBody>
      </p:sp>
      <p:sp>
        <p:nvSpPr>
          <p:cNvPr id="3" name="Analyse stock data card"/>
          <p:cNvSpPr/>
          <p:nvPr/>
        </p:nvSpPr>
        <p:spPr>
          <a:xfrm>
            <a:off x="548640" y="1463040"/>
            <a:ext cx="256032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nalyse stock data icon circle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" name="Analyse stock data icon" descr="Analyse stock da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15" y="199293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Analyse stock data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Real-time and historical prices, technical indicators and company fundamentals from Yahoo Finance</a:t>
            </a:r>
            <a:endParaRPr lang="en-US" sz="1400" dirty="0"/>
          </a:p>
        </p:txBody>
      </p:sp>
      <p:sp>
        <p:nvSpPr>
          <p:cNvPr id="8" name="RAG news analysis card"/>
          <p:cNvSpPr/>
          <p:nvPr/>
        </p:nvSpPr>
        <p:spPr>
          <a:xfrm>
            <a:off x="3383280" y="1463040"/>
            <a:ext cx="256032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AG news analysis icon circle"/>
          <p:cNvSpPr/>
          <p:nvPr/>
        </p:nvSpPr>
        <p:spPr>
          <a:xfrm>
            <a:off x="3657600" y="1783080"/>
            <a:ext cx="777240" cy="7772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RAG news analysis icon" descr="RAG news analysi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455" y="1992935"/>
            <a:ext cx="357530" cy="3575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RAG news analysis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2461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Latest news is indexed in a FAISS vector store; relevant chunks are retrieved to judge sentiment</a:t>
            </a:r>
            <a:endParaRPr lang="en-US" sz="1400" dirty="0"/>
          </a:p>
        </p:txBody>
      </p:sp>
      <p:sp>
        <p:nvSpPr>
          <p:cNvPr id="13" name="LLM insights card"/>
          <p:cNvSpPr/>
          <p:nvPr/>
        </p:nvSpPr>
        <p:spPr>
          <a:xfrm>
            <a:off x="6217920" y="1463040"/>
            <a:ext cx="256032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LM insights icon circle"/>
          <p:cNvSpPr/>
          <p:nvPr/>
        </p:nvSpPr>
        <p:spPr>
          <a:xfrm>
            <a:off x="6492240" y="1783080"/>
            <a:ext cx="777240" cy="7772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5" name="LLM insights icon" descr="LLM insigh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095" y="1992935"/>
            <a:ext cx="357530" cy="3575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LLM insights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2461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An analyst agent reasons over price trends, fundamentals and news to explain what matters</a:t>
            </a:r>
            <a:endParaRPr lang="en-US" sz="1400" dirty="0"/>
          </a:p>
        </p:txBody>
      </p:sp>
      <p:sp>
        <p:nvSpPr>
          <p:cNvPr id="18" name="Buy / Sell / Hold card"/>
          <p:cNvSpPr/>
          <p:nvPr/>
        </p:nvSpPr>
        <p:spPr>
          <a:xfrm>
            <a:off x="9052560" y="1463040"/>
            <a:ext cx="256032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uy / Sell / Hold icon circle"/>
          <p:cNvSpPr/>
          <p:nvPr/>
        </p:nvSpPr>
        <p:spPr>
          <a:xfrm>
            <a:off x="9326880" y="178308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Buy / Sell / Hold icon" descr="Buy / Sell / Hol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6735" y="1992935"/>
            <a:ext cx="357530" cy="3575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Buy / Sell / Hold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2461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simulated recommendation with a confidence score, justification and key risks</a:t>
            </a:r>
            <a:endParaRPr lang="en-US" sz="1400" dirty="0"/>
          </a:p>
        </p:txBody>
      </p:sp>
      <p:sp>
        <p:nvSpPr>
          <p:cNvPr id="23" name="Multi-agent callout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68680" y="5212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Design idea:  </a:t>
            </a:r>
            <a:r>
              <a:rPr lang="en-US" sz="1700" dirty="0">
                <a:solidFill>
                  <a:schemeClr val="bg1"/>
                </a:solidFill>
              </a:rPr>
              <a:t>each task is handled by a specialised agent, and LangGraph coordinates them through a shared state.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LangChain tile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angChain icon circle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" name="LangChain icon" descr="LangCh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62" y="191018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LangChain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LLM integration, prompt templates, tools, chains and output parsers</a:t>
            </a:r>
            <a:endParaRPr lang="en-US" sz="1400" dirty="0"/>
          </a:p>
        </p:txBody>
      </p:sp>
      <p:sp>
        <p:nvSpPr>
          <p:cNvPr id="8" name="LangGraph tile"/>
          <p:cNvSpPr/>
          <p:nvPr/>
        </p:nvSpPr>
        <p:spPr>
          <a:xfrm>
            <a:off x="3383280" y="146304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angGraph icon circle"/>
          <p:cNvSpPr/>
          <p:nvPr/>
        </p:nvSpPr>
        <p:spPr>
          <a:xfrm>
            <a:off x="3611880" y="173736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0" name="LangGraph icon" descr="LangGrap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702" y="191018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8912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LangGraph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11880" y="2514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Multi-agent graph, shared state, conditional edges, memory</a:t>
            </a:r>
            <a:endParaRPr lang="en-US" sz="1400" dirty="0"/>
          </a:p>
        </p:txBody>
      </p:sp>
      <p:sp>
        <p:nvSpPr>
          <p:cNvPr id="13" name="Groq · gpt-oss-20b tile"/>
          <p:cNvSpPr/>
          <p:nvPr/>
        </p:nvSpPr>
        <p:spPr>
          <a:xfrm>
            <a:off x="6217920" y="146304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Groq · gpt-oss-20b icon circle"/>
          <p:cNvSpPr/>
          <p:nvPr/>
        </p:nvSpPr>
        <p:spPr>
          <a:xfrm>
            <a:off x="6446520" y="1737360"/>
            <a:ext cx="640080" cy="6400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5" name="Groq · gpt-oss-20b icon" descr="Groq · gpt-oss-20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342" y="191018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2376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Groq · gpt-oss-20b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2514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Fast LLM inference through ChatGroq</a:t>
            </a:r>
            <a:endParaRPr lang="en-US" sz="1400" dirty="0"/>
          </a:p>
        </p:txBody>
      </p:sp>
      <p:sp>
        <p:nvSpPr>
          <p:cNvPr id="18" name="yfinance tile"/>
          <p:cNvSpPr/>
          <p:nvPr/>
        </p:nvSpPr>
        <p:spPr>
          <a:xfrm>
            <a:off x="9052560" y="146304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yfinance icon circle"/>
          <p:cNvSpPr/>
          <p:nvPr/>
        </p:nvSpPr>
        <p:spPr>
          <a:xfrm>
            <a:off x="9281160" y="173736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0" name="yfinance icon" descr="yfinan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3982" y="1910182"/>
            <a:ext cx="294437" cy="29443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05840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yfinance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281160" y="2514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Price history, fundamentals and news from Yahoo Finance</a:t>
            </a:r>
            <a:endParaRPr lang="en-US" sz="1400" dirty="0"/>
          </a:p>
        </p:txBody>
      </p:sp>
      <p:sp>
        <p:nvSpPr>
          <p:cNvPr id="23" name="HuggingFace MiniLM tile"/>
          <p:cNvSpPr/>
          <p:nvPr/>
        </p:nvSpPr>
        <p:spPr>
          <a:xfrm>
            <a:off x="548640" y="384048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HuggingFace MiniLM icon circle"/>
          <p:cNvSpPr/>
          <p:nvPr/>
        </p:nvSpPr>
        <p:spPr>
          <a:xfrm>
            <a:off x="777240" y="411480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5" name="HuggingFace MiniLM icon" descr="HuggingFace MiniL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062" y="4287622"/>
            <a:ext cx="294437" cy="29443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5448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HuggingFace MiniLM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4892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Free local embeddings: all-MiniLM-L6-v2</a:t>
            </a:r>
            <a:endParaRPr lang="en-US" sz="1400" dirty="0"/>
          </a:p>
        </p:txBody>
      </p:sp>
      <p:sp>
        <p:nvSpPr>
          <p:cNvPr id="28" name="FAISS tile"/>
          <p:cNvSpPr/>
          <p:nvPr/>
        </p:nvSpPr>
        <p:spPr>
          <a:xfrm>
            <a:off x="3383280" y="384048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FAISS icon circle"/>
          <p:cNvSpPr/>
          <p:nvPr/>
        </p:nvSpPr>
        <p:spPr>
          <a:xfrm>
            <a:off x="3611880" y="411480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0" name="FAISS icon" descr="FAIS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4702" y="4287622"/>
            <a:ext cx="294437" cy="29443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38912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FAISS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3611880" y="4892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Vector store used for news retrieval (RAG)</a:t>
            </a:r>
            <a:endParaRPr lang="en-US" sz="1400" dirty="0"/>
          </a:p>
        </p:txBody>
      </p:sp>
      <p:sp>
        <p:nvSpPr>
          <p:cNvPr id="33" name="Tavily (optional) tile"/>
          <p:cNvSpPr/>
          <p:nvPr/>
        </p:nvSpPr>
        <p:spPr>
          <a:xfrm>
            <a:off x="6217920" y="384048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avily (optional) icon circle"/>
          <p:cNvSpPr/>
          <p:nvPr/>
        </p:nvSpPr>
        <p:spPr>
          <a:xfrm>
            <a:off x="6446520" y="4114800"/>
            <a:ext cx="640080" cy="6400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35" name="Tavily (optional) icon" descr="Tavily (optional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9342" y="4287622"/>
            <a:ext cx="294437" cy="29443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22376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Tavily (optional)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446520" y="4892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Web news search added to the RAG knowledge base</a:t>
            </a:r>
            <a:endParaRPr lang="en-US" sz="1400" dirty="0"/>
          </a:p>
        </p:txBody>
      </p:sp>
      <p:sp>
        <p:nvSpPr>
          <p:cNvPr id="38" name="Streamlit + Plotly tile"/>
          <p:cNvSpPr/>
          <p:nvPr/>
        </p:nvSpPr>
        <p:spPr>
          <a:xfrm>
            <a:off x="9052560" y="384048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treamlit + Plotly icon circle"/>
          <p:cNvSpPr/>
          <p:nvPr/>
        </p:nvSpPr>
        <p:spPr>
          <a:xfrm>
            <a:off x="9281160" y="41148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0" name="Streamlit + Plotly icon" descr="Streamlit + Plot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3982" y="4287622"/>
            <a:ext cx="294437" cy="294437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05840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Streamlit + Plotly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9281160" y="4892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Deployable web app with interactive charts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LangGraph workflow</a:t>
            </a:r>
            <a:endParaRPr lang="en-US" sz="3200" dirty="0"/>
          </a:p>
        </p:txBody>
      </p:sp>
      <p:sp>
        <p:nvSpPr>
          <p:cNvPr id="3" name="Query Router node"/>
          <p:cNvSpPr/>
          <p:nvPr/>
        </p:nvSpPr>
        <p:spPr>
          <a:xfrm>
            <a:off x="594360" y="2514600"/>
            <a:ext cx="150876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5146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Query Router</a:t>
            </a:r>
            <a:endParaRPr lang="en-US" sz="1400" dirty="0"/>
          </a:p>
        </p:txBody>
      </p:sp>
      <p:sp>
        <p:nvSpPr>
          <p:cNvPr id="5" name="Market Data node"/>
          <p:cNvSpPr/>
          <p:nvPr/>
        </p:nvSpPr>
        <p:spPr>
          <a:xfrm>
            <a:off x="2487168" y="2514600"/>
            <a:ext cx="150876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87168" y="25146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Market Data</a:t>
            </a:r>
            <a:endParaRPr lang="en-US" sz="1400" dirty="0"/>
          </a:p>
        </p:txBody>
      </p:sp>
      <p:sp>
        <p:nvSpPr>
          <p:cNvPr id="7" name="News (RAG) node"/>
          <p:cNvSpPr/>
          <p:nvPr/>
        </p:nvSpPr>
        <p:spPr>
          <a:xfrm>
            <a:off x="4379976" y="2514600"/>
            <a:ext cx="150876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25146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News (RAG)</a:t>
            </a:r>
            <a:endParaRPr lang="en-US" sz="1400" dirty="0"/>
          </a:p>
        </p:txBody>
      </p:sp>
      <p:sp>
        <p:nvSpPr>
          <p:cNvPr id="9" name="Analyst node"/>
          <p:cNvSpPr/>
          <p:nvPr/>
        </p:nvSpPr>
        <p:spPr>
          <a:xfrm>
            <a:off x="6272784" y="2514600"/>
            <a:ext cx="150876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2784" y="25146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Analyst</a:t>
            </a:r>
            <a:endParaRPr lang="en-US" sz="1400" dirty="0"/>
          </a:p>
        </p:txBody>
      </p:sp>
      <p:sp>
        <p:nvSpPr>
          <p:cNvPr id="11" name="Recommendation node"/>
          <p:cNvSpPr/>
          <p:nvPr/>
        </p:nvSpPr>
        <p:spPr>
          <a:xfrm>
            <a:off x="8165592" y="2514600"/>
            <a:ext cx="150876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65592" y="25146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13" name="Report Generator node"/>
          <p:cNvSpPr/>
          <p:nvPr/>
        </p:nvSpPr>
        <p:spPr>
          <a:xfrm>
            <a:off x="10058400" y="2514600"/>
            <a:ext cx="150876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0" y="25146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Report Generator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03120" y="2926080"/>
            <a:ext cx="384048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95928" y="2926080"/>
            <a:ext cx="384048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88736" y="2926080"/>
            <a:ext cx="384048" cy="91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81544" y="2926080"/>
            <a:ext cx="384048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74352" y="2926080"/>
            <a:ext cx="384048" cy="91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START terminal"/>
          <p:cNvSpPr/>
          <p:nvPr/>
        </p:nvSpPr>
        <p:spPr>
          <a:xfrm>
            <a:off x="685800" y="1325880"/>
            <a:ext cx="91440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1325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START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43000" y="1737360"/>
            <a:ext cx="914" cy="7772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828800" y="2011680"/>
            <a:ext cx="914" cy="5029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828800" y="2011680"/>
            <a:ext cx="315468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983480" y="2011680"/>
            <a:ext cx="914" cy="5029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37744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</a:rPr>
              <a:t>news only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flipV="1">
            <a:off x="7315200" y="2011680"/>
            <a:ext cx="914" cy="5029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315200" y="2011680"/>
            <a:ext cx="338328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0698480" y="2011680"/>
            <a:ext cx="914" cy="5029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77240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</a:rPr>
              <a:t>no recommendation needed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3337560"/>
            <a:ext cx="914" cy="4114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657600" y="3749040"/>
            <a:ext cx="31089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 flipV="1">
            <a:off x="6766560" y="3337560"/>
            <a:ext cx="914" cy="4114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411480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</a:rPr>
              <a:t>price check</a:t>
            </a:r>
            <a:endParaRPr lang="en-US" sz="1200" dirty="0"/>
          </a:p>
        </p:txBody>
      </p:sp>
      <p:sp>
        <p:nvSpPr>
          <p:cNvPr id="35" name="Invalid Request node"/>
          <p:cNvSpPr/>
          <p:nvPr/>
        </p:nvSpPr>
        <p:spPr>
          <a:xfrm>
            <a:off x="594360" y="4434840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Invalid Request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143000" y="3337560"/>
            <a:ext cx="914" cy="10972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834640" y="3337560"/>
            <a:ext cx="914" cy="10972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123444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not a stock / bad ticker</a:t>
            </a:r>
            <a:endParaRPr lang="en-US" sz="1100" dirty="0"/>
          </a:p>
        </p:txBody>
      </p:sp>
      <p:sp>
        <p:nvSpPr>
          <p:cNvPr id="40" name="END terminal"/>
          <p:cNvSpPr/>
          <p:nvPr/>
        </p:nvSpPr>
        <p:spPr>
          <a:xfrm>
            <a:off x="10360152" y="4498848"/>
            <a:ext cx="91440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360152" y="44988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END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817352" y="3337560"/>
            <a:ext cx="914" cy="116128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337560" y="4704588"/>
            <a:ext cx="7022592" cy="91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4" name="Legend panel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8680" y="5779008"/>
            <a:ext cx="7315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1737360" y="5641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Normal edge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291840" y="5779008"/>
            <a:ext cx="7315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160520" y="5641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Conditional edge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6309360" y="5641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7 nodes  ·  3 conditional edges  ·  </a:t>
            </a:r>
            <a:r>
              <a:rPr lang="en-US" sz="1400" dirty="0">
                <a:solidFill>
                  <a:schemeClr val="tx1"/>
                </a:solidFill>
              </a:rPr>
              <a:t>InMemorySaver checkpointer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Six specialised agents</a:t>
            </a:r>
            <a:endParaRPr lang="en-US" sz="3200" dirty="0"/>
          </a:p>
        </p:txBody>
      </p:sp>
      <p:sp>
        <p:nvSpPr>
          <p:cNvPr id="3" name="Query Router agent card"/>
          <p:cNvSpPr/>
          <p:nvPr/>
        </p:nvSpPr>
        <p:spPr>
          <a:xfrm>
            <a:off x="548640" y="1417320"/>
            <a:ext cx="34747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ry Router icon circl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5" name="Query Router icon" descr="Query Rou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186446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Query Router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Turns the question into ticker, company, intent and period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Writes: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QueryPlan (Pydantic)</a:t>
            </a:r>
            <a:endParaRPr lang="en-US" sz="1200" dirty="0"/>
          </a:p>
        </p:txBody>
      </p:sp>
      <p:sp>
        <p:nvSpPr>
          <p:cNvPr id="9" name="Market Data agent card"/>
          <p:cNvSpPr/>
          <p:nvPr/>
        </p:nvSpPr>
        <p:spPr>
          <a:xfrm>
            <a:off x="4297680" y="1417320"/>
            <a:ext cx="34747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arket Data icon circle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1" name="Market Data icon" descr="Market Da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822" y="186446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Market Data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68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Calls tools for price history, technical indicators and fundamentals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Writes: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market_data</a:t>
            </a:r>
            <a:endParaRPr lang="en-US" sz="1200" dirty="0"/>
          </a:p>
        </p:txBody>
      </p:sp>
      <p:sp>
        <p:nvSpPr>
          <p:cNvPr id="15" name="News (RAG) agent card"/>
          <p:cNvSpPr/>
          <p:nvPr/>
        </p:nvSpPr>
        <p:spPr>
          <a:xfrm>
            <a:off x="8046720" y="1417320"/>
            <a:ext cx="34747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ews (RAG) icon circle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7" name="News (RAG) icon" descr="News (RAG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862" y="1864462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9828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News (RAG)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468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Fetches news, builds a FAISS index, retrieves chunks and scores sentiment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Writes: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news_insight</a:t>
            </a:r>
            <a:endParaRPr lang="en-US" sz="1200" dirty="0"/>
          </a:p>
        </p:txBody>
      </p:sp>
      <p:sp>
        <p:nvSpPr>
          <p:cNvPr id="21" name="Analyst agent card"/>
          <p:cNvSpPr/>
          <p:nvPr/>
        </p:nvSpPr>
        <p:spPr>
          <a:xfrm>
            <a:off x="548640" y="3886200"/>
            <a:ext cx="34747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Analyst icon circle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3" name="Analyst icon" descr="Analys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782" y="4333342"/>
            <a:ext cx="294437" cy="29443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0200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Analyst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4937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LLM reasoning across technicals, fundamentals and news sentiment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669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Writes: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7" name="Recommendation agent card"/>
          <p:cNvSpPr/>
          <p:nvPr/>
        </p:nvSpPr>
        <p:spPr>
          <a:xfrm>
            <a:off x="4297680" y="3886200"/>
            <a:ext cx="34747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Recommendation icon circle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Recommendation icon" descr="Recommend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4822" y="4333342"/>
            <a:ext cx="294437" cy="29443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349240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5. Recommendation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0" y="4937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Simulated BUY / SELL / HOLD with confidence, reasons and risks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0" y="5669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Writes: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3" name="Report Generator agent card"/>
          <p:cNvSpPr/>
          <p:nvPr/>
        </p:nvSpPr>
        <p:spPr>
          <a:xfrm>
            <a:off x="8046720" y="3886200"/>
            <a:ext cx="34747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Report Generator icon circle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5" name="Report Generator icon" descr="Report Generat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3862" y="4333342"/>
            <a:ext cx="294437" cy="29443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098280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6. Report Generator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8321040" y="4937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Compiles the final markdown report shown in the app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8321040" y="5669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Writes: </a:t>
            </a: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final_report</a:t>
            </a:r>
            <a:endParaRPr lang="en-US" sz="1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State management</a:t>
            </a:r>
            <a:endParaRPr lang="en-US" sz="3200" dirty="0"/>
          </a:p>
        </p:txBody>
      </p:sp>
      <p:sp>
        <p:nvSpPr>
          <p:cNvPr id="3" name="StockState code panel"/>
          <p:cNvSpPr/>
          <p:nvPr/>
        </p:nvSpPr>
        <p:spPr>
          <a:xfrm>
            <a:off x="548640" y="1417320"/>
            <a:ext cx="5577840" cy="4709160"/>
          </a:xfrm>
          <a:prstGeom prst="roundRect">
            <a:avLst>
              <a:gd name="adj" fmla="val 15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StockState(TypedDict):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messages: Annotated[list, add_messages]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user_query: str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ticker: str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company_name: str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intent: str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period: str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error: str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market_data: dict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news_articles: list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news_insight: dict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analysis: str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recommendation: dict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final_report: str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agent_log: list</a:t>
            </a:r>
            <a:endParaRPr lang="en-US" sz="1300" dirty="0"/>
          </a:p>
        </p:txBody>
      </p:sp>
      <p:sp>
        <p:nvSpPr>
          <p:cNvPr id="5" name="Shared state icon circle"/>
          <p:cNvSpPr/>
          <p:nvPr/>
        </p:nvSpPr>
        <p:spPr>
          <a:xfrm>
            <a:off x="6492240" y="146304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6" name="Shared state icon" descr="Shared st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717" y="1623517"/>
            <a:ext cx="273406" cy="2734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0" y="14447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Shared state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1828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Every agent reads from and writes to the same StockState dictionary</a:t>
            </a:r>
            <a:endParaRPr lang="en-US" sz="1400" dirty="0"/>
          </a:p>
        </p:txBody>
      </p:sp>
      <p:sp>
        <p:nvSpPr>
          <p:cNvPr id="9" name="add_messages reducer icon circle"/>
          <p:cNvSpPr/>
          <p:nvPr/>
        </p:nvSpPr>
        <p:spPr>
          <a:xfrm>
            <a:off x="6492240" y="2633472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0" name="add_messages reducer icon" descr="add_messages reduc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717" y="2793949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26151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add_messages reducer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315200" y="299923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Appends each question and report to the conversation history</a:t>
            </a:r>
            <a:endParaRPr lang="en-US" sz="1400" dirty="0"/>
          </a:p>
        </p:txBody>
      </p:sp>
      <p:sp>
        <p:nvSpPr>
          <p:cNvPr id="13" name="InMemorySaver checkpointer icon circle"/>
          <p:cNvSpPr/>
          <p:nvPr/>
        </p:nvSpPr>
        <p:spPr>
          <a:xfrm>
            <a:off x="6492240" y="3803904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4" name="InMemorySaver checkpointer icon" descr="InMemorySaver checkpoin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717" y="3964381"/>
            <a:ext cx="273406" cy="2734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15200" y="3785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InMemorySaver checkpointer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0" y="416966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Keeps memory per thread_id, so each user session has its own history</a:t>
            </a:r>
            <a:endParaRPr lang="en-US" sz="1400" dirty="0"/>
          </a:p>
        </p:txBody>
      </p:sp>
      <p:sp>
        <p:nvSpPr>
          <p:cNvPr id="17" name="Fresh state per query icon circle"/>
          <p:cNvSpPr/>
          <p:nvPr/>
        </p:nvSpPr>
        <p:spPr>
          <a:xfrm>
            <a:off x="6492240" y="4974336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8" name="Fresh state per query icon" descr="Fresh state per quer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717" y="5134813"/>
            <a:ext cx="273406" cy="27340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15200" y="4956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Fresh state per query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315200" y="534009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make_initial_state() resets old results before each new question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LangChain building blocks</a:t>
            </a:r>
            <a:endParaRPr lang="en-US" sz="3200" dirty="0"/>
          </a:p>
        </p:txBody>
      </p:sp>
      <p:sp>
        <p:nvSpPr>
          <p:cNvPr id="3" name="Prompt templates column"/>
          <p:cNvSpPr/>
          <p:nvPr/>
        </p:nvSpPr>
        <p:spPr>
          <a:xfrm>
            <a:off x="548640" y="1417320"/>
            <a:ext cx="3474720" cy="37490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mpt templates icon circl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5" name="Prompt templates icon" descr="Prompt templa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181874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Prompt templates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PromptTemplate – Query Router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ChatPromptTemplate – Analyst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ChatPromptTemplate – Recommendation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ChatPromptTemplate – News (RAG)</a:t>
            </a:r>
            <a:endParaRPr lang="en-US" sz="1400" dirty="0"/>
          </a:p>
        </p:txBody>
      </p:sp>
      <p:sp>
        <p:nvSpPr>
          <p:cNvPr id="8" name="Tools (@tool) column"/>
          <p:cNvSpPr/>
          <p:nvPr/>
        </p:nvSpPr>
        <p:spPr>
          <a:xfrm>
            <a:off x="4297680" y="1417320"/>
            <a:ext cx="3474720" cy="37490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ools (@tool) icon circle"/>
          <p:cNvSpPr/>
          <p:nvPr/>
        </p:nvSpPr>
        <p:spPr>
          <a:xfrm>
            <a:off x="4572000" y="164592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Tools (@tool) icon" descr="Tools (@tool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822" y="181874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Tools (@tool)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51460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get_price_history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calculate_technical_indicators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get_company_fundamentals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get_stock_news</a:t>
            </a:r>
            <a:endParaRPr lang="en-US" sz="1100" dirty="0"/>
          </a:p>
        </p:txBody>
      </p:sp>
      <p:sp>
        <p:nvSpPr>
          <p:cNvPr id="13" name="Chains &amp; runnables column"/>
          <p:cNvSpPr/>
          <p:nvPr/>
        </p:nvSpPr>
        <p:spPr>
          <a:xfrm>
            <a:off x="8046720" y="1417320"/>
            <a:ext cx="3474720" cy="37490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hains &amp; runnables icon circle"/>
          <p:cNvSpPr/>
          <p:nvPr/>
        </p:nvSpPr>
        <p:spPr>
          <a:xfrm>
            <a:off x="8321040" y="164592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5" name="Chains &amp; runnables icon" descr="Chains &amp; runnabl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862" y="181874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9828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Chains &amp; runnables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51460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router_chain = prompt | llm | PydanticOutputParser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analyst_chain = prompt | llm | StrOutputParser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rag_chain = RunnableParallel | prompt | llm | parser</a:t>
            </a:r>
            <a:endParaRPr lang="en-US" sz="1100" dirty="0"/>
          </a:p>
        </p:txBody>
      </p:sp>
      <p:sp>
        <p:nvSpPr>
          <p:cNvPr id="18" name="LLM callout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6868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LLM:  </a:t>
            </a: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ChatGroq(model="openai/gpt-oss-20b", temperature=0.2)</a:t>
            </a:r>
            <a:r>
              <a:rPr lang="en-US" sz="1500" dirty="0">
                <a:solidFill>
                  <a:srgbClr val="94A3B8"/>
                </a:solidFill>
              </a:rPr>
              <a:t>   ·   structured outputs with Pydantic models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RAG pipeline for financial news</a:t>
            </a:r>
            <a:endParaRPr lang="en-US" sz="3200" dirty="0"/>
          </a:p>
        </p:txBody>
      </p:sp>
      <p:sp>
        <p:nvSpPr>
          <p:cNvPr id="3" name="Ingestion label"/>
          <p:cNvSpPr/>
          <p:nvPr/>
        </p:nvSpPr>
        <p:spPr>
          <a:xfrm>
            <a:off x="548640" y="1371600"/>
            <a:ext cx="749808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INGESTION</a:t>
            </a:r>
            <a:endParaRPr lang="en-US" sz="1200" dirty="0"/>
          </a:p>
        </p:txBody>
      </p:sp>
      <p:sp>
        <p:nvSpPr>
          <p:cNvPr id="5" name="Retrieval label"/>
          <p:cNvSpPr/>
          <p:nvPr/>
        </p:nvSpPr>
        <p:spPr>
          <a:xfrm>
            <a:off x="8275320" y="1371600"/>
            <a:ext cx="333756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75320" y="13716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RETRIEVAL &amp; GENERATION</a:t>
            </a:r>
            <a:endParaRPr lang="en-US" sz="1200" dirty="0"/>
          </a:p>
        </p:txBody>
      </p:sp>
      <p:sp>
        <p:nvSpPr>
          <p:cNvPr id="7" name="Step 1 circle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645920" y="2423160"/>
            <a:ext cx="79552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4864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Fetch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91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Yahoo Finance news + Tavily (optional)</a:t>
            </a:r>
            <a:endParaRPr lang="en-US" sz="1200" dirty="0"/>
          </a:p>
        </p:txBody>
      </p:sp>
      <p:sp>
        <p:nvSpPr>
          <p:cNvPr id="12" name="Step 2 circle"/>
          <p:cNvSpPr/>
          <p:nvPr/>
        </p:nvSpPr>
        <p:spPr>
          <a:xfrm>
            <a:off x="2487168" y="205740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87168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264408" y="2423160"/>
            <a:ext cx="79552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167128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Documents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167128" y="3291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Title, date, publisher and summary</a:t>
            </a:r>
            <a:endParaRPr lang="en-US" sz="1200" dirty="0"/>
          </a:p>
        </p:txBody>
      </p:sp>
      <p:sp>
        <p:nvSpPr>
          <p:cNvPr id="17" name="Step 3 circle"/>
          <p:cNvSpPr/>
          <p:nvPr/>
        </p:nvSpPr>
        <p:spPr>
          <a:xfrm>
            <a:off x="4105656" y="205740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05656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882896" y="2423160"/>
            <a:ext cx="79552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3785616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Split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785616" y="3291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RecursiveCharacter, 500 chars / 75 overlap</a:t>
            </a:r>
            <a:endParaRPr lang="en-US" sz="1200" dirty="0"/>
          </a:p>
        </p:txBody>
      </p:sp>
      <p:sp>
        <p:nvSpPr>
          <p:cNvPr id="22" name="Step 4 circle"/>
          <p:cNvSpPr/>
          <p:nvPr/>
        </p:nvSpPr>
        <p:spPr>
          <a:xfrm>
            <a:off x="5724144" y="205740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24144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501384" y="2423160"/>
            <a:ext cx="79552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404104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Embed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04104" y="3291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all-MiniLM-L6-v2 (HuggingFace)</a:t>
            </a:r>
            <a:endParaRPr lang="en-US" sz="1200" dirty="0"/>
          </a:p>
        </p:txBody>
      </p:sp>
      <p:sp>
        <p:nvSpPr>
          <p:cNvPr id="27" name="Step 5 circle"/>
          <p:cNvSpPr/>
          <p:nvPr/>
        </p:nvSpPr>
        <p:spPr>
          <a:xfrm>
            <a:off x="7342632" y="205740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42632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8119872" y="2423160"/>
            <a:ext cx="79552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022592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Store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022592" y="3291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FAISS vector store</a:t>
            </a:r>
            <a:endParaRPr lang="en-US" sz="1200" dirty="0"/>
          </a:p>
        </p:txBody>
      </p:sp>
      <p:sp>
        <p:nvSpPr>
          <p:cNvPr id="32" name="Step 6 circle"/>
          <p:cNvSpPr/>
          <p:nvPr/>
        </p:nvSpPr>
        <p:spPr>
          <a:xfrm>
            <a:off x="8961120" y="2057400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6112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738360" y="2423160"/>
            <a:ext cx="79552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64108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Retrieve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641080" y="3291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Top 6 most relevant chunks</a:t>
            </a:r>
            <a:endParaRPr lang="en-US" sz="1200" dirty="0"/>
          </a:p>
        </p:txBody>
      </p:sp>
      <p:sp>
        <p:nvSpPr>
          <p:cNvPr id="37" name="Step 7 circle"/>
          <p:cNvSpPr/>
          <p:nvPr/>
        </p:nvSpPr>
        <p:spPr>
          <a:xfrm>
            <a:off x="10579608" y="2057400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79608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7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10259568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Generate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0259568" y="3291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LLM → structured NewsInsight</a:t>
            </a:r>
            <a:endParaRPr lang="en-US" sz="1200" dirty="0"/>
          </a:p>
        </p:txBody>
      </p:sp>
      <p:sp>
        <p:nvSpPr>
          <p:cNvPr id="41" name="Why RAG panel"/>
          <p:cNvSpPr/>
          <p:nvPr/>
        </p:nvSpPr>
        <p:spPr>
          <a:xfrm>
            <a:off x="548640" y="4526280"/>
            <a:ext cx="5394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Why RAG?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50292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LLM's knowledge is out of date. RAG grounds the answer in today's news, and the prompt tells it to answer only from the retrieved context.</a:t>
            </a:r>
            <a:endParaRPr lang="en-US" sz="1400" dirty="0"/>
          </a:p>
        </p:txBody>
      </p:sp>
      <p:sp>
        <p:nvSpPr>
          <p:cNvPr id="44" name="NewsInsight output panel"/>
          <p:cNvSpPr/>
          <p:nvPr/>
        </p:nvSpPr>
        <p:spPr>
          <a:xfrm>
            <a:off x="6217920" y="4526280"/>
            <a:ext cx="5394960" cy="164592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9224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Output: NewsInsight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6492240" y="5029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sentiment: Positive | Negative | Neutral | Mixed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sentiment_score: -1.0 … +1.0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key_themes: [3-5 catalysts]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summary: what the news means</a:t>
            </a:r>
            <a:endParaRPr lang="en-US" sz="12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Conditional edges: one graph, four paths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that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I buy Apple stock?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→ Market Data → News (RAG) → Analyst → Recommendation →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has TCS performed in the last 3 months?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→ Market Data → Analyst →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news about Tesla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→ News (RAG) → Analyst →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/ 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weather in Delhi?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→ Invalid 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oute_after_router card"/>
          <p:cNvSpPr/>
          <p:nvPr/>
        </p:nvSpPr>
        <p:spPr>
          <a:xfrm>
            <a:off x="548640" y="452628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route_after_router()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Routes to: market data · news only · invalid</a:t>
            </a:r>
            <a:endParaRPr lang="en-US" sz="1400" dirty="0"/>
          </a:p>
        </p:txBody>
      </p:sp>
      <p:sp>
        <p:nvSpPr>
          <p:cNvPr id="7" name="route_after_market_data card"/>
          <p:cNvSpPr/>
          <p:nvPr/>
        </p:nvSpPr>
        <p:spPr>
          <a:xfrm>
            <a:off x="4297680" y="452628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route_after_market_data()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Routes to: news · analyst (price check) · invalid</a:t>
            </a:r>
            <a:endParaRPr lang="en-US" sz="1400" dirty="0"/>
          </a:p>
        </p:txBody>
      </p:sp>
      <p:sp>
        <p:nvSpPr>
          <p:cNvPr id="3" name="route_after_analyst card"/>
          <p:cNvSpPr/>
          <p:nvPr/>
        </p:nvSpPr>
        <p:spPr>
          <a:xfrm>
            <a:off x="8046720" y="452628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route_after_analyst()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Routes to: recommendation · report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indicators to a recommendation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Signals the agents use</a:t>
            </a:r>
            <a:endParaRPr lang="en-US" sz="1800" dirty="0"/>
          </a:p>
        </p:txBody>
      </p:sp>
      <p:sp>
        <p:nvSpPr>
          <p:cNvPr id="4" name="SMA 20 / 50 tile"/>
          <p:cNvSpPr/>
          <p:nvPr/>
        </p:nvSpPr>
        <p:spPr>
          <a:xfrm>
            <a:off x="548640" y="1874520"/>
            <a:ext cx="26060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SMA 20 / 50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Trend: price vs moving averages</a:t>
            </a:r>
            <a:endParaRPr lang="en-US" sz="1300" dirty="0"/>
          </a:p>
        </p:txBody>
      </p:sp>
      <p:sp>
        <p:nvSpPr>
          <p:cNvPr id="7" name="RSI (14) tile"/>
          <p:cNvSpPr/>
          <p:nvPr/>
        </p:nvSpPr>
        <p:spPr>
          <a:xfrm>
            <a:off x="3337560" y="1874520"/>
            <a:ext cx="26060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RSI (14)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Momentum: &gt;70 overbought, &lt;30 oversold</a:t>
            </a:r>
            <a:endParaRPr lang="en-US" sz="1300" dirty="0"/>
          </a:p>
        </p:txBody>
      </p:sp>
      <p:sp>
        <p:nvSpPr>
          <p:cNvPr id="10" name="MACD (12, 26, 9) tile"/>
          <p:cNvSpPr/>
          <p:nvPr/>
        </p:nvSpPr>
        <p:spPr>
          <a:xfrm>
            <a:off x="548640" y="3337560"/>
            <a:ext cx="26060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MACD (12, 26, 9)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Bullish or bearish crossover</a:t>
            </a:r>
            <a:endParaRPr lang="en-US" sz="1300" dirty="0"/>
          </a:p>
        </p:txBody>
      </p:sp>
      <p:sp>
        <p:nvSpPr>
          <p:cNvPr id="13" name="Volatility tile"/>
          <p:cNvSpPr/>
          <p:nvPr/>
        </p:nvSpPr>
        <p:spPr>
          <a:xfrm>
            <a:off x="3337560" y="3337560"/>
            <a:ext cx="26060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Volatility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Annualised risk from daily returns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920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+ fundamentals (P/E, margins, growth, debt) and RAG news sentiment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Decision guidelines</a:t>
            </a:r>
            <a:endParaRPr lang="en-US" sz="1800" dirty="0"/>
          </a:p>
        </p:txBody>
      </p:sp>
      <p:sp>
        <p:nvSpPr>
          <p:cNvPr id="18" name="BUY guideline"/>
          <p:cNvSpPr/>
          <p:nvPr/>
        </p:nvSpPr>
        <p:spPr>
          <a:xfrm>
            <a:off x="6400800" y="1874520"/>
            <a:ext cx="52120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UY badge"/>
          <p:cNvSpPr/>
          <p:nvPr/>
        </p:nvSpPr>
        <p:spPr>
          <a:xfrm>
            <a:off x="6583680" y="2075688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20756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BUY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19659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Trend and momentum positive, news positive or neutral, valuation reasonable</a:t>
            </a:r>
            <a:endParaRPr lang="en-US" sz="1300" dirty="0"/>
          </a:p>
        </p:txBody>
      </p:sp>
      <p:sp>
        <p:nvSpPr>
          <p:cNvPr id="22" name="HOLD guideline"/>
          <p:cNvSpPr/>
          <p:nvPr/>
        </p:nvSpPr>
        <p:spPr>
          <a:xfrm>
            <a:off x="6400800" y="2971800"/>
            <a:ext cx="52120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HOLD badge"/>
          <p:cNvSpPr/>
          <p:nvPr/>
        </p:nvSpPr>
        <p:spPr>
          <a:xfrm>
            <a:off x="6583680" y="3172968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31729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HOLD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3063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Signals are mixed or there is not enough evidence</a:t>
            </a:r>
            <a:endParaRPr lang="en-US" sz="1300" dirty="0"/>
          </a:p>
        </p:txBody>
      </p:sp>
      <p:sp>
        <p:nvSpPr>
          <p:cNvPr id="26" name="SELL guideline"/>
          <p:cNvSpPr/>
          <p:nvPr/>
        </p:nvSpPr>
        <p:spPr>
          <a:xfrm>
            <a:off x="6400800" y="4069080"/>
            <a:ext cx="52120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ELL badge"/>
          <p:cNvSpPr/>
          <p:nvPr/>
        </p:nvSpPr>
        <p:spPr>
          <a:xfrm>
            <a:off x="6583680" y="4270248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42702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SELL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4160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Trend and momentum negative with negative news, or a serious risk</a:t>
            </a:r>
            <a:endParaRPr lang="en-US" sz="1300" dirty="0"/>
          </a:p>
        </p:txBody>
      </p:sp>
      <p:sp>
        <p:nvSpPr>
          <p:cNvPr id="30" name="Confidence callout"/>
          <p:cNvSpPr/>
          <p:nvPr/>
        </p:nvSpPr>
        <p:spPr>
          <a:xfrm>
            <a:off x="6400800" y="5212080"/>
            <a:ext cx="521208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29400" y="52120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Confidence (0-100%) reflects how strongly the signals agree with each other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Deployable Streamlit application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548640" y="1417320"/>
            <a:ext cx="6766560" cy="3941064"/>
          </a:xfrm>
          <a:prstGeom prst="roundRect">
            <a:avLst>
              <a:gd name="adj" fmla="val 13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" name="App screenshot" descr="Screenshot of the Streamlit app showing an Apple stock analysis with a BUY recommend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6583680" cy="36550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86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Live run: "Should I buy Apple stock?"</a:t>
            </a:r>
            <a:endParaRPr lang="en-US" sz="1200" dirty="0"/>
          </a:p>
        </p:txBody>
      </p:sp>
      <p:sp>
        <p:nvSpPr>
          <p:cNvPr id="6" name="Live agent progress while the graph runs icon circle"/>
          <p:cNvSpPr/>
          <p:nvPr/>
        </p:nvSpPr>
        <p:spPr>
          <a:xfrm>
            <a:off x="7635240" y="146304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7" name="Live agent progress while the graph runs icon" descr="Live agent progress while the graph ru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028" y="1598828"/>
            <a:ext cx="231343" cy="231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21040" y="1417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Live agent progress while the graph runs</a:t>
            </a:r>
            <a:endParaRPr lang="en-US" sz="1400" dirty="0"/>
          </a:p>
        </p:txBody>
      </p:sp>
      <p:sp>
        <p:nvSpPr>
          <p:cNvPr id="9" name="Quick-pick example questions icon circle"/>
          <p:cNvSpPr/>
          <p:nvPr/>
        </p:nvSpPr>
        <p:spPr>
          <a:xfrm>
            <a:off x="7635240" y="224028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0" name="Quick-pick example questions icon" descr="Quick-pick example ques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1028" y="2376068"/>
            <a:ext cx="231343" cy="23134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2104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Quick-pick example questions</a:t>
            </a:r>
            <a:endParaRPr lang="en-US" sz="1400" dirty="0"/>
          </a:p>
        </p:txBody>
      </p:sp>
      <p:sp>
        <p:nvSpPr>
          <p:cNvPr id="12" name="Interactive chart: 1M to 5Y / Max, line or candlestick, SMA 20/50/200, volume icon circle"/>
          <p:cNvSpPr/>
          <p:nvPr/>
        </p:nvSpPr>
        <p:spPr>
          <a:xfrm>
            <a:off x="7635240" y="301752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nteractive chart: 1M to 5Y / Max, line or candlestick, SMA 20/50/200, volume icon" descr="Interactive chart: 1M to 5Y / Max, line or candlestick, SMA 20/50/200, volum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1028" y="3153308"/>
            <a:ext cx="231343" cy="23134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321040" y="2971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Interactive chart: 1M to 5Y / Max, line or candlestick, SMA 20/50/200, volume</a:t>
            </a:r>
            <a:endParaRPr lang="en-US" sz="1400" dirty="0"/>
          </a:p>
        </p:txBody>
      </p:sp>
      <p:sp>
        <p:nvSpPr>
          <p:cNvPr id="15" name="Tabs for indicators, RAG news, analysis, report and agent trace icon circle"/>
          <p:cNvSpPr/>
          <p:nvPr/>
        </p:nvSpPr>
        <p:spPr>
          <a:xfrm>
            <a:off x="7635240" y="379476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6" name="Tabs for indicators, RAG news, analysis, report and agent trace icon" descr="Tabs for indicators, RAG news, analysis, report and agent tra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1028" y="3930548"/>
            <a:ext cx="231343" cy="23134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32104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Tabs for indicators, RAG news, analysis, report and agent trace</a:t>
            </a:r>
            <a:endParaRPr lang="en-US" sz="1400" dirty="0"/>
          </a:p>
        </p:txBody>
      </p:sp>
      <p:sp>
        <p:nvSpPr>
          <p:cNvPr id="18" name="Download the report (.md) and price data (.csv) icon circle"/>
          <p:cNvSpPr/>
          <p:nvPr/>
        </p:nvSpPr>
        <p:spPr>
          <a:xfrm>
            <a:off x="7635240" y="457200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9" name="Download the report (.md) and price data (.csv) icon" descr="Download the report (.md) and price data (.csv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1028" y="4707788"/>
            <a:ext cx="231343" cy="231343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321040" y="4526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Download the report (.md) and price data (.csv)</a:t>
            </a:r>
            <a:endParaRPr lang="en-US" sz="1400" dirty="0"/>
          </a:p>
        </p:txBody>
      </p:sp>
      <p:sp>
        <p:nvSpPr>
          <p:cNvPr id="21" name="Recent analyses kept in the sidebar icon circle"/>
          <p:cNvSpPr/>
          <p:nvPr/>
        </p:nvSpPr>
        <p:spPr>
          <a:xfrm>
            <a:off x="7635240" y="534924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2" name="Recent analyses kept in the sidebar icon" descr="Recent analyses kept in the sideb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1028" y="5485028"/>
            <a:ext cx="231343" cy="231343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321040" y="5303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Recent analyses kept in the sidebar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Assignment requirements: all met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608576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– LLM integration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ChatGroq with openai/gpt-oss-20b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– Prompt templates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PromptTemplate and ChatPromptTemplate for every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– Tools / chains / runnables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@tool functions, LCEL chains, RunnableParallel, RunnableLambda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on financial news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 embeddings + FAISS retriever + LLM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– Multi-agent workflow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specialised agents + invalid-request handler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– State management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StockState TypedDict, add_messages, InMemorySaver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– Nodes, edges, conditional 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nodes, 5 normal edges, 3 conditional edges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notebook (.ipynb) + deployable Streamlit app (.py)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to run and deploy</a:t>
            </a:r>
            <a:endParaRPr lang="en-US" sz="3200" dirty="0"/>
          </a:p>
        </p:txBody>
      </p:sp>
      <p:sp>
        <p:nvSpPr>
          <p:cNvPr id="3" name="Run locally panel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un locally icon circle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5" name="Run locally icon" descr="Run local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180639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 locally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 Install packages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8620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 Add API keys to .env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730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GROQ_API_KEY=...  (TAVILY optional)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251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3. Open the notebook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4599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 notebook stock_market_assistant.ipynb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5120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4. Start the app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54681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stock_market_assistance.py</a:t>
            </a:r>
            <a:endParaRPr lang="en-US" sz="1200" dirty="0"/>
          </a:p>
        </p:txBody>
      </p:sp>
      <p:sp>
        <p:nvSpPr>
          <p:cNvPr id="15" name="Deploy panel"/>
          <p:cNvSpPr/>
          <p:nvPr/>
        </p:nvSpPr>
        <p:spPr>
          <a:xfrm>
            <a:off x="621792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eploy icon circle"/>
          <p:cNvSpPr/>
          <p:nvPr/>
        </p:nvSpPr>
        <p:spPr>
          <a:xfrm>
            <a:off x="6492240" y="164592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7" name="Deploy icon" descr="Deplo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717" y="1806397"/>
            <a:ext cx="273406" cy="27340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269480" y="16459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Deploy on Streamlit Community Cloud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53796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 Push to GitHub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766560" y="28620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The .py file, requirements.txt and the notebook (not .env)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53796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 Create the app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766560" y="37307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share.streamlit.io → New app → choose the .py file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537960" y="4251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3. Add secrets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766560" y="45994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GROQ_API_KEY (and TAVILY_API_KEY) under Advanced settings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6537960" y="5120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4. Deploy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766560" y="54681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You get a public URL to share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Limitations and future scope</a:t>
            </a:r>
            <a:endParaRPr lang="en-US" sz="3200" dirty="0"/>
          </a:p>
        </p:txBody>
      </p:sp>
      <p:sp>
        <p:nvSpPr>
          <p:cNvPr id="3" name="Current limitations panel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urrent limitations icon circle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Current limitations icon" descr="Current limita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180639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Current limitations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Yahoo Finance data can be delayed or rate-limited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News coverage is limited to recent headlines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The LLM may pick the wrong ticker for lesser-known companies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Memory is in-memory and resets when the app restarts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Recommendations are simulated, not financial advice</a:t>
            </a:r>
            <a:endParaRPr lang="en-US" sz="1700" dirty="0"/>
          </a:p>
        </p:txBody>
      </p:sp>
      <p:sp>
        <p:nvSpPr>
          <p:cNvPr id="8" name="Future scope panel"/>
          <p:cNvSpPr/>
          <p:nvPr/>
        </p:nvSpPr>
        <p:spPr>
          <a:xfrm>
            <a:off x="621792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uture scope icon circle"/>
          <p:cNvSpPr/>
          <p:nvPr/>
        </p:nvSpPr>
        <p:spPr>
          <a:xfrm>
            <a:off x="6492240" y="164592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0" name="Future scope icon" descr="Future sco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717" y="180639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645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6060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Compare several stocks or track a portfolio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Backtest the recommendation logic on past data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Persistent memory with a SQLite or Postgres checkpointer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Add earnings call transcripts and annual reports to RAG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Price alerts and scheduled daily reports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55448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6 agents coordinated by LangGraph icon circle"/>
          <p:cNvSpPr/>
          <p:nvPr/>
        </p:nvSpPr>
        <p:spPr>
          <a:xfrm>
            <a:off x="7680960" y="173736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" name="6 agents coordinated by LangGraph icon" descr="6 agents coordinated by LangGrap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782" y="191018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03920" y="1737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6 agents coordinated by LangGraph</a:t>
            </a:r>
            <a:endParaRPr lang="en-US" sz="1600" dirty="0"/>
          </a:p>
        </p:txBody>
      </p:sp>
      <p:sp>
        <p:nvSpPr>
          <p:cNvPr id="7" name="News grounded with RAG (FAISS) icon circle"/>
          <p:cNvSpPr/>
          <p:nvPr/>
        </p:nvSpPr>
        <p:spPr>
          <a:xfrm>
            <a:off x="7680960" y="274320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8" name="News grounded with RAG (FAISS) icon" descr="News grounded with RAG (FAISS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782" y="2916022"/>
            <a:ext cx="294437" cy="2944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0392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News grounded with RAG (FAISS)</a:t>
            </a:r>
            <a:endParaRPr lang="en-US" sz="1600" dirty="0"/>
          </a:p>
        </p:txBody>
      </p:sp>
      <p:sp>
        <p:nvSpPr>
          <p:cNvPr id="10" name="Explainable, simulated Buy / Sell / Hold icon circle"/>
          <p:cNvSpPr/>
          <p:nvPr/>
        </p:nvSpPr>
        <p:spPr>
          <a:xfrm>
            <a:off x="7680960" y="374904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1" name="Explainable, simulated Buy / Sell / Hold icon" descr="Explainable, simulated Buy / Sell / Hol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3782" y="3921862"/>
            <a:ext cx="294437" cy="2944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0392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Explainable, simulated Buy / Sell / Hold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Disclaimer: all recommendations are simulated for educational purposes only and are not financial advice.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et Pulse">
  <a:themeElements>
    <a:clrScheme name="Market Pulse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6A34A"/>
      </a:accent1>
      <a:accent2>
        <a:srgbClr val="0EA5E9"/>
      </a:accent2>
      <a:accent3>
        <a:srgbClr val="F59E0B"/>
      </a:accent3>
      <a:accent4>
        <a:srgbClr val="DC2626"/>
      </a:accent4>
      <a:accent5>
        <a:srgbClr val="6366F1"/>
      </a:accent5>
      <a:accent6>
        <a:srgbClr val="64748B"/>
      </a:accent6>
      <a:hlink>
        <a:srgbClr val="0EA5E9"/>
      </a:hlink>
      <a:folHlink>
        <a:srgbClr val="6366F1"/>
      </a:folHlink>
    </a:clrScheme>
    <a:fontScheme name="Market Pul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1960</Words>
  <Application>Microsoft Office PowerPoint</Application>
  <PresentationFormat>Widescreen</PresentationFormat>
  <Paragraphs>299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Market Pulse</vt:lpstr>
      <vt:lpstr>AI Stock Market Assistant</vt:lpstr>
      <vt:lpstr>What the assistant does</vt:lpstr>
      <vt:lpstr>Technology stack</vt:lpstr>
      <vt:lpstr>LangGraph workflow</vt:lpstr>
      <vt:lpstr>Six specialised agents</vt:lpstr>
      <vt:lpstr>State management</vt:lpstr>
      <vt:lpstr>LangChain building blocks</vt:lpstr>
      <vt:lpstr>RAG pipeline for financial news</vt:lpstr>
      <vt:lpstr>Conditional edges: one graph, four paths</vt:lpstr>
      <vt:lpstr>From indicators to a recommendation</vt:lpstr>
      <vt:lpstr>Deployable Streamlit application</vt:lpstr>
      <vt:lpstr>Assignment requirements: all met</vt:lpstr>
      <vt:lpstr>How to run and deploy</vt:lpstr>
      <vt:lpstr>Limitations and future scope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Stock Market Assistant (LangChain + LangGraph)</dc:title>
  <dc:subject>PptxGenJS Presentation</dc:subject>
  <dc:creator>Akshay</dc:creator>
  <cp:lastModifiedBy>Akshay Kale</cp:lastModifiedBy>
  <cp:revision>2</cp:revision>
  <dcterms:created xsi:type="dcterms:W3CDTF">2026-10-14T16:59:56Z</dcterms:created>
  <dcterms:modified xsi:type="dcterms:W3CDTF">2026-10-14T17:03:56Z</dcterms:modified>
</cp:coreProperties>
</file>